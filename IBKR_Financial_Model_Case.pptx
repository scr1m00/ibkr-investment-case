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FY2023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Commissions</c:v>
                  </c:pt>
                  <c:pt idx="1">
                    <c:v>Other fees</c:v>
                  </c:pt>
                  <c:pt idx="2">
                    <c:v>Net interest income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1360</c:v>
                </c:pt>
                <c:pt idx="1">
                  <c:v>197</c:v>
                </c:pt>
                <c:pt idx="2">
                  <c:v>2794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Commissions</c:v>
                  </c:pt>
                  <c:pt idx="1">
                    <c:v>Other fees</c:v>
                  </c:pt>
                  <c:pt idx="2">
                    <c:v>Net interest income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1697</c:v>
                </c:pt>
                <c:pt idx="1">
                  <c:v>280</c:v>
                </c:pt>
                <c:pt idx="2">
                  <c:v>3148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г/г, %</c:v>
                </c:pt>
              </c:strCache>
            </c:strRef>
          </c:tx>
          <c:spPr>
            <a:solidFill>
              <a:srgbClr val="808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Comm.</c:v>
                  </c:pt>
                  <c:pt idx="1">
                    <c:v>Occup./D&amp;A</c:v>
                  </c:pt>
                  <c:pt idx="2">
                    <c:v>Comp&amp;Ben.</c:v>
                  </c:pt>
                  <c:pt idx="3">
                    <c:v>Execution</c:v>
                  </c:pt>
                  <c:pt idx="4">
                    <c:v>Bad debt</c:v>
                  </c:pt>
                  <c:pt idx="5">
                    <c:v>G&amp;A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-4.9</c:v>
                </c:pt>
                <c:pt idx="1">
                  <c:v>2</c:v>
                </c:pt>
                <c:pt idx="2">
                  <c:v>8.9</c:v>
                </c:pt>
                <c:pt idx="3">
                  <c:v>15.8</c:v>
                </c:pt>
                <c:pt idx="4">
                  <c:v>114.3</c:v>
                </c:pt>
                <c:pt idx="5">
                  <c:v>48.8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-20"/>
        </c:scaling>
        <c:delete val="0"/>
        <c:axPos val="l"/>
        <c:majorGridlines>
          <c:spPr>
            <a:ln w="6350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FY2023 = 100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Accounts</c:v>
                  </c:pt>
                  <c:pt idx="1">
                    <c:v>Customer equity</c:v>
                  </c:pt>
                  <c:pt idx="2">
                    <c:v>DARTs</c:v>
                  </c:pt>
                  <c:pt idx="3">
                    <c:v>Margin loans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Accounts</c:v>
                  </c:pt>
                  <c:pt idx="1">
                    <c:v>Customer equity</c:v>
                  </c:pt>
                  <c:pt idx="2">
                    <c:v>DARTs</c:v>
                  </c:pt>
                  <c:pt idx="3">
                    <c:v>Margin loans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130</c:v>
                </c:pt>
                <c:pt idx="1">
                  <c:v>133</c:v>
                </c:pt>
                <c:pt idx="2">
                  <c:v>161</c:v>
                </c:pt>
                <c:pt idx="3">
                  <c:v>145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BROKERS GROUP, INC.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Структурный разрыв доходности: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9D9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акционер IBKR растёт быстрее, чем сама компания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29260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анализа: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vs FY2023 (год, завершённый 31 декабря 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Тикер: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IBKR</a:t>
            </a:r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Сектор: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Электронный брокер / финтех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Артём Синявин  ·  Финансовый аналитик  ·  Подготовлено для портфолио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SEC EDGAR (10-K FY2024), IBKR Earnings Release 4Q2024 — interactivebrokers.com/ir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КОМПАНИИ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Холдинговая структура, которая меняет смысл «чистой прибыли»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Что делает IBKR
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Автоматизированный электронный брокер: исполнение и клиринг сделок по акциям, опционам, фьючерсам, форекс, облигациям, ETF на 160+ биржах в 36 странах. 3.34 млн клиентских счетов, $568 млрд клиентских активов.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Зачем нужна структура IBG, Inc. / IBG LLC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IBKR (тикер на бирже) — это не операционная компания, а холдинг, владеющий лишь 25.8% операционной IBG LLC. Остальные 74.2% держит IBG Holdings LLC — структура основателя Томаса Петерффи, менеджмента и сотрудников.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0" y="1691640"/>
            <a:ext cx="3291840" cy="329184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25.8%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04088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IBG, Inc.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(акционеры NASDAQ: IBKR)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0" y="5120640"/>
            <a:ext cx="228600" cy="228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5074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IBG, Inc. — доля в IBG LLC: 25.8% (2024) ↑ от 25.4% (2023)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5486400"/>
            <a:ext cx="228600" cy="228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5440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(NCI) — 74.2% (2024) ↓ от 74.6% (2023)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806440"/>
            <a:ext cx="1069848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8064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Следствие: значительная часть консолидированной прибыли (≈78%) формально принадлежит не акционерам IBKR, а структуре Holdings — это критично для интерпретации любых GAAP-метрик прибыли.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Brokers Group, Inc. (NASDAQ: IBKR)  ·  FY2024 vs FY2023  ·  Источник: 10-K FY2024, Earnings Release 4Q2024 (SEC EDGAR)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РЕЗУЛЬТАТЫ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FY2024: рост по всем строкам, но не равномерный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28900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6420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$5,185M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3545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vs $4,340M   </a:t>
            </a:r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</a:rPr>
              <a:t>+19.5%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2132" y="1554480"/>
            <a:ext cx="2628900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9292" y="166420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before taxes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9292" y="2148840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$3,695M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9292" y="2697480"/>
            <a:ext cx="23545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vs $3,069M   </a:t>
            </a:r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</a:rPr>
              <a:t>+20.4%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35624" y="1554480"/>
            <a:ext cx="2628900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66420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(консолид.)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72784" y="2148840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$3,407M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72784" y="2697480"/>
            <a:ext cx="23545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vs $2,812M   </a:t>
            </a:r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</a:rPr>
              <a:t>+21.2%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29116" y="1554480"/>
            <a:ext cx="2628900" cy="1828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66276" y="1664208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available for common stockholders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66276" y="2148840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$755M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66276" y="2697480"/>
            <a:ext cx="23545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</a:rPr>
              <a:t>vs $600M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+25.8%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Net revenues, $ млн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4023360"/>
          <a:ext cx="56692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400800" y="3657600"/>
            <a:ext cx="4846320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0"/>
          <p:cNvSpPr/>
          <p:nvPr/>
        </p:nvSpPr>
        <p:spPr>
          <a:xfrm>
            <a:off x="6629400" y="3840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наблюдение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629400" y="425196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для акционера IBKR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вырос на 25.8%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заметно быстрее, чем консолидированная прибыль IBG LLC (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+21.2%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Разрыв в 4.7 п.п. — не операционный результат, а эффект структуры владения и распределения NCI (см. слайд 6).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Brokers Group, Inc. (NASDAQ: IBKR)  ·  FY2024 vs FY2023  ·  Источник: 10-K FY2024, Earnings Release 4Q2024 (SEC EDGAR)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МАРЖИНАЛЬНОСТЬ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Маржа стабильна — но не потому, что есть операционный рычаг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577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60120"/>
                <a:gridCol w="96012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Коэффициент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Δ, п.п.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Pretax profit margin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71.3%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70.7%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+0.5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Net margin (NI common / Revenue)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14.6%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+0.7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Non-interest expenses /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28.7%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-0.5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Доля NII в Net revenues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60.7%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64.4%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08080"/>
                          </a:solidFill>
                        </a:rPr>
                        <a:t>-3.7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Effective tax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7.8%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-0.6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166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 = 1.05x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43200" y="51206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of Operating Leverage. Прибыль до налога растёт практически пропорционально выручке (+20.4% vs +19.5%) — почти без рычага.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расходных статей, % изменения г/г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0" y="18745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6492240" y="5212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выросли на 48.8% (314 vs 211 млн $) — основной источник давления на маржу, опережающий рост выручки в 2.5 раза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Brokers Group, Inc. (NASDAQ: IBKR)  ·  FY2024 vs FY2023  ·  Источник: 10-K FY2024, Earnings Release 4Q2024 (SEC EDGAR)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ФАКТОРНЫЙ АНАЛИЗ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Рост — объёмный, а не ценовой: ключевой инсайт кейса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834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Комиссионный доход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Объём:  </a:t>
            </a:r>
            <a:pPr indent="0" marL="0">
              <a:buNone/>
            </a:pPr>
            <a:r>
              <a:rPr lang="en-US" sz="1300" b="1" dirty="0">
                <a:solidFill>
                  <a:srgbClr val="404040"/>
                </a:solidFill>
              </a:rPr>
              <a:t>DARTs: +61%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Цена/ставка:  </a:t>
            </a:r>
            <a:pPr indent="0" marL="0">
              <a:buNone/>
            </a:pPr>
            <a:r>
              <a:rPr lang="en-US" sz="1300" b="1" dirty="0">
                <a:solidFill>
                  <a:srgbClr val="808080"/>
                </a:solidFill>
              </a:rPr>
              <a:t>Commission/order: -15%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788920"/>
            <a:ext cx="4937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Итоговый рост статьи доходов: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+24.8%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сделок растёт втрое быстрее, чем падает удельная комиссия — рост числа мелких ордеров (опционы, акции) перекрывает снижение цены за ордер.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394960" cy="2834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процентный доход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Объём:  </a:t>
            </a:r>
            <a:pPr indent="0" marL="0">
              <a:buNone/>
            </a:pPr>
            <a:r>
              <a:rPr lang="en-US" sz="1300" b="1" dirty="0">
                <a:solidFill>
                  <a:srgbClr val="404040"/>
                </a:solidFill>
              </a:rPr>
              <a:t>Margin loans: +45%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423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Цена/ставка:  </a:t>
            </a:r>
            <a:pPr indent="0" marL="0">
              <a:buNone/>
            </a:pPr>
            <a:r>
              <a:rPr lang="en-US" sz="1300" b="1" dirty="0">
                <a:solidFill>
                  <a:srgbClr val="808080"/>
                </a:solidFill>
              </a:rPr>
              <a:t>NIM: 2.35% → 2.36%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2788920"/>
            <a:ext cx="49377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880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Итоговый рост статьи доходов: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+12.7%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2461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практически не изменился — весь прирост NII обеспечен ростом баланса клиентских кредитов и депозитов, а не ставкой ФРС.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клиентской базы, индекс FY2023 = 100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4846320"/>
          <a:ext cx="54864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309360" y="452628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53796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37960" y="49834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год — история роста клиентской базы (+30% счетов, +61% DARTs), а не процентного цикла. Это значит, что устойчивость прибыли в будущем зависит от удержания клиентов, а не от уровня ставки ФРС.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Brokers Group, Inc. (NASDAQ: IBKR)  ·  FY2024 vs FY2023  ·  Источник: 10-K FY2024, Earnings Release 4Q2024 (SEC EDGAR)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СТРУКТУРНЫЙ ИНСАЙТ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+25.8% EPS — это не то же самое, что +21.2% прибыли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11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D9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+21.2 п.п.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консолид.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прибыли IBG LLC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(операционный)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69080" y="24688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262626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011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+4.7 п.п.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09160" y="27432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доли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IBG, Inc. + сокращ.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налогового разрыва NCI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26680" y="24688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011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+25.8 п.п.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27432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Рост NI для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акционеров IBKR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 разрыва: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владения IBG, Inc. в IBG LLC выросла с 25.4% до 25.8% за счёт выкупа доли у Holdings — это структурная, капитальная транзакция, повторяющаяся из года в год. Дополнительно фактическая доля NCI в прибыли (78%) систематически выше формальной доли владения (74%) из-за корпоративного налога, который платит только IBG, Inc., и эффектов Tax Receivable Agreement — и этот разрыв немного сократился в 2024 году.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080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инвестора это значит: часть роста EPS — устойчивый структурный драйвер (buyback доли), независимый от операционных результатов компании.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Brokers Group, Inc. (NASDAQ: IBKR)  ·  FY2024 vs FY2023  ·  Источник: 10-K FY2024, Earnings Release 4Q2024 (SEC EDGAR)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риск модели — концентрация в процентном доходе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1031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55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ставки ФРС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 net revenues — это net interest income. Снижение всех ставок на 100 б.п. сократит NII на ~$335M (оценка компании) — это ~6.5% от Net revenues FY2024.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21031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783080"/>
            <a:ext cx="411480" cy="411480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755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над расходами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выросли на 48.8% — почти в 2.5 раза быстрее выручки. Если тренд продолжится, он начнёт компенсировать выгоды от роста клиентской базы.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21031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0873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Корпоративное управление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 Holdings владеет 74.2% IBG LLC, а доля самого Томаса Петерффи лично внутри Holdings выросла с 84.6% при IPO до 91.4% на конец 2024 — концентрация контроля у основателя продолжает расти. IBKR классифицируется как "controlled company" — миноритарии не имеют решающего влияния на состав совета директоров.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94960" cy="21031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114800"/>
            <a:ext cx="411480" cy="411480"/>
          </a:xfrm>
          <a:prstGeom prst="ellipse">
            <a:avLst/>
          </a:prstGeom>
          <a:solidFill>
            <a:srgbClr val="80808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0873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Давление на удельную комиссию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 order упал на 15% г/г. Если рост клиентской базы замедлится, а давление на цену продолжится — выручка от комиссий может стагнировать.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Brokers Group, Inc. (NASDAQ: IBKR)  ·  FY2024 vs FY2023  ·  Источник: 10-K FY2024, Earnings Release 4Q2024 (SEC EDGAR)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 и рекомендации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832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на 19.5% revenue / 25.8% EPS объясняется реальным притоком клиентов (+30% счетов), а не временным процентным циклом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Pretax margin стабильно выше 70% — редкий уровень эффективности для брокера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Структурный buyback доли у Holdings — повторяемый драйвер роста EPS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25112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5112" y="1874520"/>
            <a:ext cx="33832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2057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 revenue зависит от NII — чувствительность к развороту цикла ставок ФРС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25112" y="32918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растут на 48.8% — почти в 2.5 раза быстрее выручки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25112" y="45262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Концентрация контроля у основателя — ограниченное влияние миноритариев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01584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1584" y="1874520"/>
            <a:ext cx="33832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2057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Следить за квартальной динамикой DARTs и customer accounts как опережающим индикатором — это первичный драйвер выручки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01584" y="32918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Оценивать NII-чувствительность отдельно от операционного роста при построении прогноза на 2025–2026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01584" y="45262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Мониторить динамику G&amp;A — устойчивый рост этой статьи выше revenue growth — сигнал к пересмотру тезиса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Подготовлено как демонстрационный аналитический кейс для портфолио. Не является инвестиционной рекомендацией.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Brokers Group — структурный анализ FY2024</dc:title>
  <dc:subject>PptxGenJS Presentation</dc:subject>
  <dc:creator>Артём Синявин</dc:creator>
  <cp:lastModifiedBy>Артём Синявин</cp:lastModifiedBy>
  <cp:revision>1</cp:revision>
  <dcterms:created xsi:type="dcterms:W3CDTF">2026-06-22T18:11:02Z</dcterms:created>
  <dcterms:modified xsi:type="dcterms:W3CDTF">2026-06-22T18:11:02Z</dcterms:modified>
</cp:coreProperties>
</file>